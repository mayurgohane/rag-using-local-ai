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515600" cy="365760"/>
          </a:xfrm>
          <a:prstGeom prst="rect">
            <a:avLst/>
          </a:prstGeom>
          <a:noFill/>
        </p:spPr>
        <p:txBody>
          <a:bodyPr wrap="square" lIns="0" rIns="0" tIns="0" bIns="0" anchor="t"/>
          <a:lstStyle/>
          <a:p>
            <a:pPr algn="l">
              <a:spcBef>
                <a:spcPts val="0"/>
              </a:spcBef>
              <a:spcAft>
                <a:spcPts val="0"/>
              </a:spcAft>
            </a:pPr>
            <a:r>
              <a:rPr sz="1400" b="1">
                <a:solidFill>
                  <a:srgbClr val="2DD4BF"/>
                </a:solidFill>
                <a:latin typeface="Calibri"/>
              </a:rPr>
              <a:t>A BEGINNER'S NOTE</a:t>
            </a:r>
          </a:p>
        </p:txBody>
      </p:sp>
      <p:sp>
        <p:nvSpPr>
          <p:cNvPr id="5" name="TextBox 4"/>
          <p:cNvSpPr txBox="1"/>
          <p:nvPr/>
        </p:nvSpPr>
        <p:spPr>
          <a:xfrm>
            <a:off x="640080" y="1965960"/>
            <a:ext cx="10789920" cy="1645920"/>
          </a:xfrm>
          <a:prstGeom prst="rect">
            <a:avLst/>
          </a:prstGeom>
          <a:noFill/>
        </p:spPr>
        <p:txBody>
          <a:bodyPr wrap="square" lIns="0" rIns="0" tIns="0" bIns="0" anchor="t"/>
          <a:lstStyle/>
          <a:p>
            <a:pPr algn="l">
              <a:spcBef>
                <a:spcPts val="0"/>
              </a:spcBef>
              <a:spcAft>
                <a:spcPts val="0"/>
              </a:spcAft>
            </a:pPr>
            <a:r>
              <a:rPr sz="4400" b="1">
                <a:solidFill>
                  <a:srgbClr val="F8FAFC"/>
                </a:solidFill>
                <a:latin typeface="Calibri"/>
              </a:rPr>
              <a:t>What we learned
by building a local RAG app</a:t>
            </a:r>
          </a:p>
        </p:txBody>
      </p:sp>
      <p:sp>
        <p:nvSpPr>
          <p:cNvPr id="6" name="TextBox 5"/>
          <p:cNvSpPr txBox="1"/>
          <p:nvPr/>
        </p:nvSpPr>
        <p:spPr>
          <a:xfrm>
            <a:off x="640080" y="3977639"/>
            <a:ext cx="9601200" cy="1005840"/>
          </a:xfrm>
          <a:prstGeom prst="rect">
            <a:avLst/>
          </a:prstGeom>
          <a:noFill/>
        </p:spPr>
        <p:txBody>
          <a:bodyPr wrap="square" lIns="0" rIns="0" tIns="0" bIns="0" anchor="t"/>
          <a:lstStyle/>
          <a:p>
            <a:pPr algn="l">
              <a:spcBef>
                <a:spcPts val="0"/>
              </a:spcBef>
              <a:spcAft>
                <a:spcPts val="0"/>
              </a:spcAft>
            </a:pPr>
            <a:r>
              <a:rPr sz="2000" b="0">
                <a:solidFill>
                  <a:srgbClr val="E2E8F0"/>
                </a:solidFill>
                <a:latin typeface="Calibri"/>
              </a:rPr>
              <a:t>How a private PDF becomes an answer, without sending the document to a paid API.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2</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THE STARTING POINT</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A language model does not know your files</a:t>
            </a:r>
          </a:p>
        </p:txBody>
      </p:sp>
      <p:sp>
        <p:nvSpPr>
          <p:cNvPr id="8" name="Rectangle 7"/>
          <p:cNvSpPr/>
          <p:nvPr/>
        </p:nvSpPr>
        <p:spPr>
          <a:xfrm>
            <a:off x="502920" y="1691640"/>
            <a:ext cx="3566160" cy="429768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691640"/>
            <a:ext cx="73152" cy="429768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856232"/>
            <a:ext cx="3182112" cy="404164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What a model knows</a:t>
            </a:r>
          </a:p>
          <a:p>
            <a:pPr algn="l">
              <a:spcBef>
                <a:spcPts val="800"/>
              </a:spcBef>
              <a:spcAft>
                <a:spcPts val="0"/>
              </a:spcAft>
            </a:pPr>
            <a:r>
              <a:rPr sz="1500" b="0">
                <a:solidFill>
                  <a:srgbClr val="E2E8F0"/>
                </a:solidFill>
                <a:latin typeface="Calibri"/>
              </a:rPr>
              <a:t>It learned patterns from public training text. It can write fluent sentences. It has not read the PDF sitting in your folder.</a:t>
            </a:r>
          </a:p>
        </p:txBody>
      </p:sp>
      <p:sp>
        <p:nvSpPr>
          <p:cNvPr id="11" name="Rectangle 10"/>
          <p:cNvSpPr/>
          <p:nvPr/>
        </p:nvSpPr>
        <p:spPr>
          <a:xfrm>
            <a:off x="4297680" y="1691640"/>
            <a:ext cx="3566160" cy="429768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7680" y="1691640"/>
            <a:ext cx="73152" cy="429768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856232"/>
            <a:ext cx="3182112" cy="404164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What goes wrong</a:t>
            </a:r>
          </a:p>
          <a:p>
            <a:pPr algn="l">
              <a:spcBef>
                <a:spcPts val="800"/>
              </a:spcBef>
              <a:spcAft>
                <a:spcPts val="0"/>
              </a:spcAft>
            </a:pPr>
            <a:r>
              <a:rPr sz="1500" b="0">
                <a:solidFill>
                  <a:srgbClr val="E2E8F0"/>
                </a:solidFill>
                <a:latin typeface="Calibri"/>
              </a:rPr>
              <a:t>If you still ask it, it will often invent a confident answer. That invention is called a hallucination.</a:t>
            </a:r>
          </a:p>
        </p:txBody>
      </p:sp>
      <p:sp>
        <p:nvSpPr>
          <p:cNvPr id="14" name="Rectangle 13"/>
          <p:cNvSpPr/>
          <p:nvPr/>
        </p:nvSpPr>
        <p:spPr>
          <a:xfrm>
            <a:off x="8092440" y="1691640"/>
            <a:ext cx="3566160" cy="429768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691640"/>
            <a:ext cx="73152" cy="429768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1856232"/>
            <a:ext cx="3182112" cy="404164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What we wanted</a:t>
            </a:r>
          </a:p>
          <a:p>
            <a:pPr algn="l">
              <a:spcBef>
                <a:spcPts val="800"/>
              </a:spcBef>
              <a:spcAft>
                <a:spcPts val="0"/>
              </a:spcAft>
            </a:pPr>
            <a:r>
              <a:rPr sz="1500" b="0">
                <a:solidFill>
                  <a:srgbClr val="E2E8F0"/>
                </a:solidFill>
                <a:latin typeface="Calibri"/>
              </a:rPr>
              <a:t>Answers that come from our two papers, on this laptop, and a clear refusal when the papers do not contain the answer.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3</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THE IDEA</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RAG means: find first, then write</a:t>
            </a:r>
          </a:p>
        </p:txBody>
      </p:sp>
      <p:sp>
        <p:nvSpPr>
          <p:cNvPr id="8" name="Rectangle 7"/>
          <p:cNvSpPr/>
          <p:nvPr/>
        </p:nvSpPr>
        <p:spPr>
          <a:xfrm>
            <a:off x="502920" y="1965960"/>
            <a:ext cx="2697480" cy="35661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2194560"/>
            <a:ext cx="2286000" cy="640080"/>
          </a:xfrm>
          <a:prstGeom prst="rect">
            <a:avLst/>
          </a:prstGeom>
          <a:noFill/>
        </p:spPr>
        <p:txBody>
          <a:bodyPr wrap="square" lIns="0" rIns="0" tIns="0" bIns="0" anchor="t"/>
          <a:lstStyle/>
          <a:p>
            <a:pPr algn="l">
              <a:spcBef>
                <a:spcPts val="0"/>
              </a:spcBef>
              <a:spcAft>
                <a:spcPts val="0"/>
              </a:spcAft>
            </a:pPr>
            <a:r>
              <a:rPr sz="2800" b="1">
                <a:solidFill>
                  <a:srgbClr val="2DD4BF"/>
                </a:solidFill>
                <a:latin typeface="Calibri"/>
              </a:rPr>
              <a:t>1</a:t>
            </a:r>
          </a:p>
        </p:txBody>
      </p:sp>
      <p:sp>
        <p:nvSpPr>
          <p:cNvPr id="10" name="TextBox 9"/>
          <p:cNvSpPr txBox="1"/>
          <p:nvPr/>
        </p:nvSpPr>
        <p:spPr>
          <a:xfrm>
            <a:off x="704088" y="2926080"/>
            <a:ext cx="2286000" cy="2194560"/>
          </a:xfrm>
          <a:prstGeom prst="rect">
            <a:avLst/>
          </a:prstGeom>
          <a:noFill/>
        </p:spPr>
        <p:txBody>
          <a:bodyPr wrap="square" lIns="0" rIns="0" tIns="0" bIns="0" anchor="t"/>
          <a:lstStyle/>
          <a:p>
            <a:pPr algn="l">
              <a:spcBef>
                <a:spcPts val="0"/>
              </a:spcBef>
              <a:spcAft>
                <a:spcPts val="0"/>
              </a:spcAft>
            </a:pPr>
            <a:r>
              <a:rPr sz="2200" b="1">
                <a:solidFill>
                  <a:srgbClr val="F8FAFC"/>
                </a:solidFill>
                <a:latin typeface="Calibri"/>
              </a:rPr>
              <a:t>Read</a:t>
            </a:r>
          </a:p>
          <a:p>
            <a:pPr algn="l">
              <a:spcBef>
                <a:spcPts val="1000"/>
              </a:spcBef>
              <a:spcAft>
                <a:spcPts val="0"/>
              </a:spcAft>
            </a:pPr>
            <a:r>
              <a:rPr sz="1600" b="0">
                <a:solidFill>
                  <a:srgbClr val="E2E8F0"/>
                </a:solidFill>
                <a:latin typeface="Calibri"/>
              </a:rPr>
              <a:t>Pull the text out of each PDF.</a:t>
            </a:r>
          </a:p>
        </p:txBody>
      </p:sp>
      <p:sp>
        <p:nvSpPr>
          <p:cNvPr id="11" name="Rectangle 10"/>
          <p:cNvSpPr/>
          <p:nvPr/>
        </p:nvSpPr>
        <p:spPr>
          <a:xfrm>
            <a:off x="3383280" y="1965960"/>
            <a:ext cx="2697480" cy="35661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84448" y="2194560"/>
            <a:ext cx="2286000" cy="640080"/>
          </a:xfrm>
          <a:prstGeom prst="rect">
            <a:avLst/>
          </a:prstGeom>
          <a:noFill/>
        </p:spPr>
        <p:txBody>
          <a:bodyPr wrap="square" lIns="0" rIns="0" tIns="0" bIns="0" anchor="t"/>
          <a:lstStyle/>
          <a:p>
            <a:pPr algn="l">
              <a:spcBef>
                <a:spcPts val="0"/>
              </a:spcBef>
              <a:spcAft>
                <a:spcPts val="0"/>
              </a:spcAft>
            </a:pPr>
            <a:r>
              <a:rPr sz="2800" b="1">
                <a:solidFill>
                  <a:srgbClr val="2DD4BF"/>
                </a:solidFill>
                <a:latin typeface="Calibri"/>
              </a:rPr>
              <a:t>2</a:t>
            </a:r>
          </a:p>
        </p:txBody>
      </p:sp>
      <p:sp>
        <p:nvSpPr>
          <p:cNvPr id="13" name="TextBox 12"/>
          <p:cNvSpPr txBox="1"/>
          <p:nvPr/>
        </p:nvSpPr>
        <p:spPr>
          <a:xfrm>
            <a:off x="3584448" y="2926080"/>
            <a:ext cx="2286000" cy="2194560"/>
          </a:xfrm>
          <a:prstGeom prst="rect">
            <a:avLst/>
          </a:prstGeom>
          <a:noFill/>
        </p:spPr>
        <p:txBody>
          <a:bodyPr wrap="square" lIns="0" rIns="0" tIns="0" bIns="0" anchor="t"/>
          <a:lstStyle/>
          <a:p>
            <a:pPr algn="l">
              <a:spcBef>
                <a:spcPts val="0"/>
              </a:spcBef>
              <a:spcAft>
                <a:spcPts val="0"/>
              </a:spcAft>
            </a:pPr>
            <a:r>
              <a:rPr sz="2200" b="1">
                <a:solidFill>
                  <a:srgbClr val="F8FAFC"/>
                </a:solidFill>
                <a:latin typeface="Calibri"/>
              </a:rPr>
              <a:t>Cut</a:t>
            </a:r>
          </a:p>
          <a:p>
            <a:pPr algn="l">
              <a:spcBef>
                <a:spcPts val="1000"/>
              </a:spcBef>
              <a:spcAft>
                <a:spcPts val="0"/>
              </a:spcAft>
            </a:pPr>
            <a:r>
              <a:rPr sz="1600" b="0">
                <a:solidFill>
                  <a:srgbClr val="E2E8F0"/>
                </a:solidFill>
                <a:latin typeface="Calibri"/>
              </a:rPr>
              <a:t>Split long text into overlapping chunks.</a:t>
            </a:r>
          </a:p>
        </p:txBody>
      </p:sp>
      <p:sp>
        <p:nvSpPr>
          <p:cNvPr id="14" name="Rectangle 13"/>
          <p:cNvSpPr/>
          <p:nvPr/>
        </p:nvSpPr>
        <p:spPr>
          <a:xfrm>
            <a:off x="6263640" y="1965960"/>
            <a:ext cx="2697480" cy="35661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2194560"/>
            <a:ext cx="2286000" cy="640080"/>
          </a:xfrm>
          <a:prstGeom prst="rect">
            <a:avLst/>
          </a:prstGeom>
          <a:noFill/>
        </p:spPr>
        <p:txBody>
          <a:bodyPr wrap="square" lIns="0" rIns="0" tIns="0" bIns="0" anchor="t"/>
          <a:lstStyle/>
          <a:p>
            <a:pPr algn="l">
              <a:spcBef>
                <a:spcPts val="0"/>
              </a:spcBef>
              <a:spcAft>
                <a:spcPts val="0"/>
              </a:spcAft>
            </a:pPr>
            <a:r>
              <a:rPr sz="2800" b="1">
                <a:solidFill>
                  <a:srgbClr val="2DD4BF"/>
                </a:solidFill>
                <a:latin typeface="Calibri"/>
              </a:rPr>
              <a:t>3</a:t>
            </a:r>
          </a:p>
        </p:txBody>
      </p:sp>
      <p:sp>
        <p:nvSpPr>
          <p:cNvPr id="16" name="TextBox 15"/>
          <p:cNvSpPr txBox="1"/>
          <p:nvPr/>
        </p:nvSpPr>
        <p:spPr>
          <a:xfrm>
            <a:off x="6464808" y="2926080"/>
            <a:ext cx="2286000" cy="2194560"/>
          </a:xfrm>
          <a:prstGeom prst="rect">
            <a:avLst/>
          </a:prstGeom>
          <a:noFill/>
        </p:spPr>
        <p:txBody>
          <a:bodyPr wrap="square" lIns="0" rIns="0" tIns="0" bIns="0" anchor="t"/>
          <a:lstStyle/>
          <a:p>
            <a:pPr algn="l">
              <a:spcBef>
                <a:spcPts val="0"/>
              </a:spcBef>
              <a:spcAft>
                <a:spcPts val="0"/>
              </a:spcAft>
            </a:pPr>
            <a:r>
              <a:rPr sz="2200" b="1">
                <a:solidFill>
                  <a:srgbClr val="F8FAFC"/>
                </a:solidFill>
                <a:latin typeface="Calibri"/>
              </a:rPr>
              <a:t>Find</a:t>
            </a:r>
          </a:p>
          <a:p>
            <a:pPr algn="l">
              <a:spcBef>
                <a:spcPts val="1000"/>
              </a:spcBef>
              <a:spcAft>
                <a:spcPts val="0"/>
              </a:spcAft>
            </a:pPr>
            <a:r>
              <a:rPr sz="1600" b="0">
                <a:solidFill>
                  <a:srgbClr val="E2E8F0"/>
                </a:solidFill>
                <a:latin typeface="Calibri"/>
              </a:rPr>
              <a:t>Keep the few chunks closest to the question.</a:t>
            </a:r>
          </a:p>
        </p:txBody>
      </p:sp>
      <p:sp>
        <p:nvSpPr>
          <p:cNvPr id="17" name="Rectangle 16"/>
          <p:cNvSpPr/>
          <p:nvPr/>
        </p:nvSpPr>
        <p:spPr>
          <a:xfrm>
            <a:off x="9144000" y="1965960"/>
            <a:ext cx="2697480" cy="35661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345168" y="2194560"/>
            <a:ext cx="2286000" cy="640080"/>
          </a:xfrm>
          <a:prstGeom prst="rect">
            <a:avLst/>
          </a:prstGeom>
          <a:noFill/>
        </p:spPr>
        <p:txBody>
          <a:bodyPr wrap="square" lIns="0" rIns="0" tIns="0" bIns="0" anchor="t"/>
          <a:lstStyle/>
          <a:p>
            <a:pPr algn="l">
              <a:spcBef>
                <a:spcPts val="0"/>
              </a:spcBef>
              <a:spcAft>
                <a:spcPts val="0"/>
              </a:spcAft>
            </a:pPr>
            <a:r>
              <a:rPr sz="2800" b="1">
                <a:solidFill>
                  <a:srgbClr val="2DD4BF"/>
                </a:solidFill>
                <a:latin typeface="Calibri"/>
              </a:rPr>
              <a:t>4</a:t>
            </a:r>
          </a:p>
        </p:txBody>
      </p:sp>
      <p:sp>
        <p:nvSpPr>
          <p:cNvPr id="19" name="TextBox 18"/>
          <p:cNvSpPr txBox="1"/>
          <p:nvPr/>
        </p:nvSpPr>
        <p:spPr>
          <a:xfrm>
            <a:off x="9345168" y="2926080"/>
            <a:ext cx="2286000" cy="2194560"/>
          </a:xfrm>
          <a:prstGeom prst="rect">
            <a:avLst/>
          </a:prstGeom>
          <a:noFill/>
        </p:spPr>
        <p:txBody>
          <a:bodyPr wrap="square" lIns="0" rIns="0" tIns="0" bIns="0" anchor="t"/>
          <a:lstStyle/>
          <a:p>
            <a:pPr algn="l">
              <a:spcBef>
                <a:spcPts val="0"/>
              </a:spcBef>
              <a:spcAft>
                <a:spcPts val="0"/>
              </a:spcAft>
            </a:pPr>
            <a:r>
              <a:rPr sz="2200" b="1">
                <a:solidFill>
                  <a:srgbClr val="F8FAFC"/>
                </a:solidFill>
                <a:latin typeface="Calibri"/>
              </a:rPr>
              <a:t>Answer</a:t>
            </a:r>
          </a:p>
          <a:p>
            <a:pPr algn="l">
              <a:spcBef>
                <a:spcPts val="1000"/>
              </a:spcBef>
              <a:spcAft>
                <a:spcPts val="0"/>
              </a:spcAft>
            </a:pPr>
            <a:r>
              <a:rPr sz="1600" b="0">
                <a:solidFill>
                  <a:srgbClr val="E2E8F0"/>
                </a:solidFill>
                <a:latin typeface="Calibri"/>
              </a:rPr>
              <a:t>Let the model write from those chunks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4</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STEP 1 AND 2</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Chunks are how a long PDF becomes searchable</a:t>
            </a:r>
          </a:p>
        </p:txBody>
      </p:sp>
      <p:sp>
        <p:nvSpPr>
          <p:cNvPr id="8" name="Rectangle 7"/>
          <p:cNvSpPr/>
          <p:nvPr/>
        </p:nvSpPr>
        <p:spPr>
          <a:xfrm>
            <a:off x="502920" y="1737360"/>
            <a:ext cx="548640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01952"/>
            <a:ext cx="510235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Why we split the text</a:t>
            </a:r>
          </a:p>
          <a:p>
            <a:pPr algn="l">
              <a:spcBef>
                <a:spcPts val="800"/>
              </a:spcBef>
              <a:spcAft>
                <a:spcPts val="0"/>
              </a:spcAft>
            </a:pPr>
            <a:r>
              <a:rPr sz="1500" b="0">
                <a:solidFill>
                  <a:srgbClr val="E2E8F0"/>
                </a:solidFill>
                <a:latin typeface="Calibri"/>
              </a:rPr>
              <a:t>A model and a search index work better on short passages than on a 20-page paper. We cut the text into pieces of about 800 characters, with 150 characters of overlap so a sentence on the boundary is not lost.</a:t>
            </a:r>
          </a:p>
        </p:txBody>
      </p:sp>
      <p:sp>
        <p:nvSpPr>
          <p:cNvPr id="11" name="Rectangle 10"/>
          <p:cNvSpPr/>
          <p:nvPr/>
        </p:nvSpPr>
        <p:spPr>
          <a:xfrm>
            <a:off x="6217920" y="1737360"/>
            <a:ext cx="544068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901952"/>
            <a:ext cx="505663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What we stored</a:t>
            </a:r>
          </a:p>
          <a:p>
            <a:pPr algn="l">
              <a:spcBef>
                <a:spcPts val="800"/>
              </a:spcBef>
              <a:spcAft>
                <a:spcPts val="0"/>
              </a:spcAft>
            </a:pPr>
            <a:r>
              <a:rPr sz="1500" b="0">
                <a:solidFill>
                  <a:srgbClr val="E2E8F0"/>
                </a:solidFill>
                <a:latin typeface="Calibri"/>
              </a:rPr>
              <a:t>Each piece keeps its file name and page number. After the last run, the two papers became 241 chunks. Those chunks are the only facts the app is allowed to use.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5</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STEP 3</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An embedding is a list of numbers for meaning</a:t>
            </a:r>
          </a:p>
        </p:txBody>
      </p:sp>
      <p:sp>
        <p:nvSpPr>
          <p:cNvPr id="8" name="TextBox 7"/>
          <p:cNvSpPr txBox="1"/>
          <p:nvPr/>
        </p:nvSpPr>
        <p:spPr>
          <a:xfrm>
            <a:off x="502920" y="1554480"/>
            <a:ext cx="11155680" cy="1005840"/>
          </a:xfrm>
          <a:prstGeom prst="rect">
            <a:avLst/>
          </a:prstGeom>
          <a:noFill/>
        </p:spPr>
        <p:txBody>
          <a:bodyPr wrap="square" lIns="0" rIns="0" tIns="0" bIns="0" anchor="t"/>
          <a:lstStyle/>
          <a:p>
            <a:pPr algn="l">
              <a:spcBef>
                <a:spcPts val="0"/>
              </a:spcBef>
              <a:spcAft>
                <a:spcPts val="0"/>
              </a:spcAft>
            </a:pPr>
            <a:r>
              <a:rPr sz="1800" b="0">
                <a:solidFill>
                  <a:srgbClr val="E2E8F0"/>
                </a:solidFill>
                <a:latin typeface="Calibri"/>
              </a:rPr>
              <a:t>The same small model turns every chunk, and later every question, into a vector. Similar meanings land near each other. The words do not have to match exactly.</a:t>
            </a:r>
          </a:p>
        </p:txBody>
      </p:sp>
      <p:sp>
        <p:nvSpPr>
          <p:cNvPr id="9" name="Rectangle 8"/>
          <p:cNvSpPr/>
          <p:nvPr/>
        </p:nvSpPr>
        <p:spPr>
          <a:xfrm>
            <a:off x="502920" y="2880360"/>
            <a:ext cx="3657600" cy="3063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880360"/>
            <a:ext cx="73152" cy="3063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044952"/>
            <a:ext cx="3273552" cy="2807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Same model twice</a:t>
            </a:r>
          </a:p>
          <a:p>
            <a:pPr algn="l">
              <a:spcBef>
                <a:spcPts val="800"/>
              </a:spcBef>
              <a:spcAft>
                <a:spcPts val="0"/>
              </a:spcAft>
            </a:pPr>
            <a:r>
              <a:rPr sz="1500" b="0">
                <a:solidFill>
                  <a:srgbClr val="E2E8F0"/>
                </a:solidFill>
                <a:latin typeface="Calibri"/>
              </a:rPr>
              <a:t>Ingestion and question search must use the same embedding model. We use all-MiniLM-L6-v2.</a:t>
            </a:r>
          </a:p>
        </p:txBody>
      </p:sp>
      <p:sp>
        <p:nvSpPr>
          <p:cNvPr id="12" name="Rectangle 11"/>
          <p:cNvSpPr/>
          <p:nvPr/>
        </p:nvSpPr>
        <p:spPr>
          <a:xfrm>
            <a:off x="4343400" y="2880360"/>
            <a:ext cx="3657600" cy="3063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880360"/>
            <a:ext cx="73152" cy="3063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3044952"/>
            <a:ext cx="3273552" cy="2807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Nearness, not keywords</a:t>
            </a:r>
          </a:p>
          <a:p>
            <a:pPr algn="l">
              <a:spcBef>
                <a:spcPts val="800"/>
              </a:spcBef>
              <a:spcAft>
                <a:spcPts val="0"/>
              </a:spcAft>
            </a:pPr>
            <a:r>
              <a:rPr sz="1500" b="0">
                <a:solidFill>
                  <a:srgbClr val="E2E8F0"/>
                </a:solidFill>
                <a:latin typeface="Calibri"/>
              </a:rPr>
              <a:t>“How does LoRA reduce parameters?” can match a passage that never uses that exact sentence.</a:t>
            </a:r>
          </a:p>
        </p:txBody>
      </p:sp>
      <p:sp>
        <p:nvSpPr>
          <p:cNvPr id="15" name="Rectangle 14"/>
          <p:cNvSpPr/>
          <p:nvPr/>
        </p:nvSpPr>
        <p:spPr>
          <a:xfrm>
            <a:off x="8183879" y="2880360"/>
            <a:ext cx="3474720" cy="3063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2880360"/>
            <a:ext cx="73152" cy="3063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1" y="3044952"/>
            <a:ext cx="3090672" cy="2807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A cutoff</a:t>
            </a:r>
          </a:p>
          <a:p>
            <a:pPr algn="l">
              <a:spcBef>
                <a:spcPts val="800"/>
              </a:spcBef>
              <a:spcAft>
                <a:spcPts val="0"/>
              </a:spcAft>
            </a:pPr>
            <a:r>
              <a:rPr sz="1500" b="0">
                <a:solidFill>
                  <a:srgbClr val="E2E8F0"/>
                </a:solidFill>
                <a:latin typeface="Calibri"/>
              </a:rPr>
              <a:t>If the nearest passage is still a weak match, we refuse instead of forcing an answer.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6</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STEP 3</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The vector database only retrieves. It does not think.</a:t>
            </a:r>
          </a:p>
        </p:txBody>
      </p:sp>
      <p:sp>
        <p:nvSpPr>
          <p:cNvPr id="8" name="Rectangle 7"/>
          <p:cNvSpPr/>
          <p:nvPr/>
        </p:nvSpPr>
        <p:spPr>
          <a:xfrm>
            <a:off x="502920" y="1737360"/>
            <a:ext cx="548640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01952"/>
            <a:ext cx="510235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Qdrant</a:t>
            </a:r>
          </a:p>
          <a:p>
            <a:pPr algn="l">
              <a:spcBef>
                <a:spcPts val="800"/>
              </a:spcBef>
              <a:spcAft>
                <a:spcPts val="0"/>
              </a:spcAft>
            </a:pPr>
            <a:r>
              <a:rPr sz="1500" b="0">
                <a:solidFill>
                  <a:srgbClr val="E2E8F0"/>
                </a:solidFill>
                <a:latin typeface="Calibri"/>
              </a:rPr>
              <a:t>We store each vector with its text, source file, and page. A question becomes a vector, and Qdrant returns the 4 nearest chunks. That search is fast compared with reading every page again.</a:t>
            </a:r>
          </a:p>
        </p:txBody>
      </p:sp>
      <p:sp>
        <p:nvSpPr>
          <p:cNvPr id="11" name="Rectangle 10"/>
          <p:cNvSpPr/>
          <p:nvPr/>
        </p:nvSpPr>
        <p:spPr>
          <a:xfrm>
            <a:off x="6217920" y="1737360"/>
            <a:ext cx="544068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901952"/>
            <a:ext cx="505663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One writer at a time</a:t>
            </a:r>
          </a:p>
          <a:p>
            <a:pPr algn="l">
              <a:spcBef>
                <a:spcPts val="800"/>
              </a:spcBef>
              <a:spcAft>
                <a:spcPts val="0"/>
              </a:spcAft>
            </a:pPr>
            <a:r>
              <a:rPr sz="1500" b="0">
                <a:solidFill>
                  <a:srgbClr val="E2E8F0"/>
                </a:solidFill>
                <a:latin typeface="Calibri"/>
              </a:rPr>
              <a:t>This database lives in a folder on disk. Ingestion and the running app cannot open it together. Build the index first, then start the app.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7</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STEP 4</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The model writes. The passages decide what is true.</a:t>
            </a:r>
          </a:p>
        </p:txBody>
      </p:sp>
      <p:sp>
        <p:nvSpPr>
          <p:cNvPr id="8" name="TextBox 7"/>
          <p:cNvSpPr txBox="1"/>
          <p:nvPr/>
        </p:nvSpPr>
        <p:spPr>
          <a:xfrm>
            <a:off x="502920" y="1554480"/>
            <a:ext cx="11155680" cy="1097280"/>
          </a:xfrm>
          <a:prstGeom prst="rect">
            <a:avLst/>
          </a:prstGeom>
          <a:noFill/>
        </p:spPr>
        <p:txBody>
          <a:bodyPr wrap="square" lIns="0" rIns="0" tIns="0" bIns="0" anchor="t"/>
          <a:lstStyle/>
          <a:p>
            <a:pPr algn="l">
              <a:spcBef>
                <a:spcPts val="0"/>
              </a:spcBef>
              <a:spcAft>
                <a:spcPts val="0"/>
              </a:spcAft>
            </a:pPr>
            <a:r>
              <a:rPr sz="1800" b="0">
                <a:solidFill>
                  <a:srgbClr val="E2E8F0"/>
                </a:solidFill>
                <a:latin typeface="Calibri"/>
              </a:rPr>
              <a:t>We give Qwen2.5-1.5B a system prompt: answer this question, use only the context, and say when the documents do not contain the answer.</a:t>
            </a:r>
          </a:p>
        </p:txBody>
      </p:sp>
      <p:sp>
        <p:nvSpPr>
          <p:cNvPr id="9" name="Rectangle 8"/>
          <p:cNvSpPr/>
          <p:nvPr/>
        </p:nvSpPr>
        <p:spPr>
          <a:xfrm>
            <a:off x="502920" y="2926080"/>
            <a:ext cx="3657600" cy="301752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2926080"/>
            <a:ext cx="73152" cy="30175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090672"/>
            <a:ext cx="3273552" cy="276148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Good question</a:t>
            </a:r>
          </a:p>
          <a:p>
            <a:pPr algn="l">
              <a:spcBef>
                <a:spcPts val="800"/>
              </a:spcBef>
              <a:spcAft>
                <a:spcPts val="0"/>
              </a:spcAft>
            </a:pPr>
            <a:r>
              <a:rPr sz="1500" b="0">
                <a:solidFill>
                  <a:srgbClr val="E2E8F0"/>
                </a:solidFill>
                <a:latin typeface="Calibri"/>
              </a:rPr>
              <a:t>“Where is LoRA applied?” can be answered because a retrieved passage says Wq and Wv.</a:t>
            </a:r>
          </a:p>
        </p:txBody>
      </p:sp>
      <p:sp>
        <p:nvSpPr>
          <p:cNvPr id="12" name="Rectangle 11"/>
          <p:cNvSpPr/>
          <p:nvPr/>
        </p:nvSpPr>
        <p:spPr>
          <a:xfrm>
            <a:off x="4343400" y="2926080"/>
            <a:ext cx="3657600" cy="301752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43400" y="2926080"/>
            <a:ext cx="73152" cy="30175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9432" y="3090672"/>
            <a:ext cx="3273552" cy="276148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Outside the files</a:t>
            </a:r>
          </a:p>
          <a:p>
            <a:pPr algn="l">
              <a:spcBef>
                <a:spcPts val="800"/>
              </a:spcBef>
              <a:spcAft>
                <a:spcPts val="0"/>
              </a:spcAft>
            </a:pPr>
            <a:r>
              <a:rPr sz="1500" b="0">
                <a:solidFill>
                  <a:srgbClr val="E2E8F0"/>
                </a:solidFill>
                <a:latin typeface="Calibri"/>
              </a:rPr>
              <a:t>“What is the capital of France?” is refused. The papers never discuss it.</a:t>
            </a:r>
          </a:p>
        </p:txBody>
      </p:sp>
      <p:sp>
        <p:nvSpPr>
          <p:cNvPr id="15" name="Rectangle 14"/>
          <p:cNvSpPr/>
          <p:nvPr/>
        </p:nvSpPr>
        <p:spPr>
          <a:xfrm>
            <a:off x="8183879" y="2926080"/>
            <a:ext cx="3474720" cy="301752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83879" y="2926080"/>
            <a:ext cx="73152" cy="301752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9911" y="3090672"/>
            <a:ext cx="3090672" cy="276148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A greeting</a:t>
            </a:r>
          </a:p>
          <a:p>
            <a:pPr algn="l">
              <a:spcBef>
                <a:spcPts val="800"/>
              </a:spcBef>
              <a:spcAft>
                <a:spcPts val="0"/>
              </a:spcAft>
            </a:pPr>
            <a:r>
              <a:rPr sz="1500" b="0">
                <a:solidFill>
                  <a:srgbClr val="E2E8F0"/>
                </a:solidFill>
                <a:latin typeface="Calibri"/>
              </a:rPr>
              <a:t>“Hi” is not a document question. The app says hello and waits for a real question.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8</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LESSONS FROM BAD ANSWERS</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Fluent text is not the same as a correct answer</a:t>
            </a:r>
          </a:p>
        </p:txBody>
      </p:sp>
      <p:sp>
        <p:nvSpPr>
          <p:cNvPr id="8" name="Rectangle 7"/>
          <p:cNvSpPr/>
          <p:nvPr/>
        </p:nvSpPr>
        <p:spPr>
          <a:xfrm>
            <a:off x="502920" y="1645920"/>
            <a:ext cx="11155680" cy="137160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847088"/>
            <a:ext cx="10607040" cy="1005840"/>
          </a:xfrm>
          <a:prstGeom prst="rect">
            <a:avLst/>
          </a:prstGeom>
          <a:noFill/>
        </p:spPr>
        <p:txBody>
          <a:bodyPr wrap="square" lIns="0" rIns="0" tIns="0" bIns="0" anchor="t"/>
          <a:lstStyle/>
          <a:p>
            <a:pPr algn="l">
              <a:spcBef>
                <a:spcPts val="0"/>
              </a:spcBef>
              <a:spcAft>
                <a:spcPts val="0"/>
              </a:spcAft>
            </a:pPr>
            <a:r>
              <a:rPr sz="1800" b="1">
                <a:solidFill>
                  <a:srgbClr val="2DD4BF"/>
                </a:solidFill>
                <a:latin typeface="Calibri"/>
              </a:rPr>
              <a:t>Hallucination</a:t>
            </a:r>
          </a:p>
          <a:p>
            <a:pPr algn="l">
              <a:spcBef>
                <a:spcPts val="400"/>
              </a:spcBef>
              <a:spcAft>
                <a:spcPts val="0"/>
              </a:spcAft>
            </a:pPr>
            <a:r>
              <a:rPr sz="1600" b="0">
                <a:solidFill>
                  <a:srgbClr val="E2E8F0"/>
                </a:solidFill>
                <a:latin typeface="Calibri"/>
              </a:rPr>
              <a:t>Early on, “Hi” became a made-up sentence about a person. The model was completing text, not reading the paper.</a:t>
            </a:r>
          </a:p>
        </p:txBody>
      </p:sp>
      <p:sp>
        <p:nvSpPr>
          <p:cNvPr id="10" name="Rectangle 9"/>
          <p:cNvSpPr/>
          <p:nvPr/>
        </p:nvSpPr>
        <p:spPr>
          <a:xfrm>
            <a:off x="502920" y="3154680"/>
            <a:ext cx="11155680" cy="137160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355848"/>
            <a:ext cx="10607040" cy="1005840"/>
          </a:xfrm>
          <a:prstGeom prst="rect">
            <a:avLst/>
          </a:prstGeom>
          <a:noFill/>
        </p:spPr>
        <p:txBody>
          <a:bodyPr wrap="square" lIns="0" rIns="0" tIns="0" bIns="0" anchor="t"/>
          <a:lstStyle/>
          <a:p>
            <a:pPr algn="l">
              <a:spcBef>
                <a:spcPts val="0"/>
              </a:spcBef>
              <a:spcAft>
                <a:spcPts val="0"/>
              </a:spcAft>
            </a:pPr>
            <a:r>
              <a:rPr sz="1800" b="1">
                <a:solidFill>
                  <a:srgbClr val="2DD4BF"/>
                </a:solidFill>
                <a:latin typeface="Calibri"/>
              </a:rPr>
              <a:t>Too many rules</a:t>
            </a:r>
          </a:p>
          <a:p>
            <a:pPr algn="l">
              <a:spcBef>
                <a:spcPts val="400"/>
              </a:spcBef>
              <a:spcAft>
                <a:spcPts val="0"/>
              </a:spcAft>
            </a:pPr>
            <a:r>
              <a:rPr sz="1600" b="0">
                <a:solidFill>
                  <a:srgbClr val="E2E8F0"/>
                </a:solidFill>
                <a:latin typeface="Calibri"/>
              </a:rPr>
              <a:t>A stop-word list and a few sample questions made the app feel like it only knew two questions. Retrieval should stay generic.</a:t>
            </a:r>
          </a:p>
        </p:txBody>
      </p:sp>
      <p:sp>
        <p:nvSpPr>
          <p:cNvPr id="12" name="Rectangle 11"/>
          <p:cNvSpPr/>
          <p:nvPr/>
        </p:nvSpPr>
        <p:spPr>
          <a:xfrm>
            <a:off x="502920" y="4663440"/>
            <a:ext cx="11155680" cy="137160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864608"/>
            <a:ext cx="10607040" cy="1005840"/>
          </a:xfrm>
          <a:prstGeom prst="rect">
            <a:avLst/>
          </a:prstGeom>
          <a:noFill/>
        </p:spPr>
        <p:txBody>
          <a:bodyPr wrap="square" lIns="0" rIns="0" tIns="0" bIns="0" anchor="t"/>
          <a:lstStyle/>
          <a:p>
            <a:pPr algn="l">
              <a:spcBef>
                <a:spcPts val="0"/>
              </a:spcBef>
              <a:spcAft>
                <a:spcPts val="0"/>
              </a:spcAft>
            </a:pPr>
            <a:r>
              <a:rPr sz="1800" b="1">
                <a:solidFill>
                  <a:srgbClr val="2DD4BF"/>
                </a:solidFill>
                <a:latin typeface="Calibri"/>
              </a:rPr>
              <a:t>Noisy PDFs</a:t>
            </a:r>
          </a:p>
          <a:p>
            <a:pPr algn="l">
              <a:spcBef>
                <a:spcPts val="400"/>
              </a:spcBef>
              <a:spcAft>
                <a:spcPts val="0"/>
              </a:spcAft>
            </a:pPr>
            <a:r>
              <a:rPr sz="1600" b="0">
                <a:solidFill>
                  <a:srgbClr val="E2E8F0"/>
                </a:solidFill>
                <a:latin typeface="Calibri"/>
              </a:rPr>
              <a:t>Extracted paper text has glued words and captions. The prompt asks for a clean sentence, and the source is still shown beside the chat.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9</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RUNNING IT OURSELVES</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Local AI is a hardware choice, not only a slogan</a:t>
            </a:r>
          </a:p>
        </p:txBody>
      </p:sp>
      <p:sp>
        <p:nvSpPr>
          <p:cNvPr id="8" name="Rectangle 7"/>
          <p:cNvSpPr/>
          <p:nvPr/>
        </p:nvSpPr>
        <p:spPr>
          <a:xfrm>
            <a:off x="502920" y="1737360"/>
            <a:ext cx="548640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01952"/>
            <a:ext cx="510235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What worked</a:t>
            </a:r>
          </a:p>
          <a:p>
            <a:pPr algn="l">
              <a:spcBef>
                <a:spcPts val="800"/>
              </a:spcBef>
              <a:spcAft>
                <a:spcPts val="0"/>
              </a:spcAft>
            </a:pPr>
            <a:r>
              <a:rPr sz="1500" b="0">
                <a:solidFill>
                  <a:srgbClr val="E2E8F0"/>
                </a:solidFill>
                <a:latin typeface="Calibri"/>
              </a:rPr>
              <a:t>ONNX Runtime 1.19 on CPU. MiniLM for embeddings. A 1.5 billion parameter Qwen model, quantized, for answers. This fits in about 8 GB of RAM.</a:t>
            </a:r>
          </a:p>
        </p:txBody>
      </p:sp>
      <p:sp>
        <p:nvSpPr>
          <p:cNvPr id="11" name="Rectangle 10"/>
          <p:cNvSpPr/>
          <p:nvPr/>
        </p:nvSpPr>
        <p:spPr>
          <a:xfrm>
            <a:off x="6217920" y="1737360"/>
            <a:ext cx="544068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3952" y="1901952"/>
            <a:ext cx="505663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What did not</a:t>
            </a:r>
          </a:p>
          <a:p>
            <a:pPr algn="l">
              <a:spcBef>
                <a:spcPts val="800"/>
              </a:spcBef>
              <a:spcAft>
                <a:spcPts val="0"/>
              </a:spcAft>
            </a:pPr>
            <a:r>
              <a:rPr sz="1500" b="0">
                <a:solidFill>
                  <a:srgbClr val="E2E8F0"/>
                </a:solidFill>
                <a:latin typeface="Calibri"/>
              </a:rPr>
              <a:t>PyTorch failed to load a DLL. llama.cpp crashed on startup. A newer ONNX Runtime crashed on import. A bigger model would not be “better” if it cannot start.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10</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THE SHAPE OF THE APP</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Two commands, then the chat</a:t>
            </a:r>
          </a:p>
        </p:txBody>
      </p:sp>
      <p:sp>
        <p:nvSpPr>
          <p:cNvPr id="8" name="Rectangle 7"/>
          <p:cNvSpPr/>
          <p:nvPr/>
        </p:nvSpPr>
        <p:spPr>
          <a:xfrm>
            <a:off x="502920" y="1737360"/>
            <a:ext cx="365760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1901952"/>
            <a:ext cx="327355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1. Ingest</a:t>
            </a:r>
          </a:p>
          <a:p>
            <a:pPr algn="l">
              <a:spcBef>
                <a:spcPts val="800"/>
              </a:spcBef>
              <a:spcAft>
                <a:spcPts val="0"/>
              </a:spcAft>
            </a:pPr>
            <a:r>
              <a:rPr sz="1500" b="0">
                <a:solidFill>
                  <a:srgbClr val="E2E8F0"/>
                </a:solidFill>
                <a:latin typeface="Calibri"/>
              </a:rPr>
              <a:t>python ingestion.py reads data/documents and writes the Qdrant index.</a:t>
            </a:r>
          </a:p>
        </p:txBody>
      </p:sp>
      <p:sp>
        <p:nvSpPr>
          <p:cNvPr id="11" name="Rectangle 10"/>
          <p:cNvSpPr/>
          <p:nvPr/>
        </p:nvSpPr>
        <p:spPr>
          <a:xfrm>
            <a:off x="4343400" y="1737360"/>
            <a:ext cx="365760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901952"/>
            <a:ext cx="327355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2. Serve</a:t>
            </a:r>
          </a:p>
          <a:p>
            <a:pPr algn="l">
              <a:spcBef>
                <a:spcPts val="800"/>
              </a:spcBef>
              <a:spcAft>
                <a:spcPts val="0"/>
              </a:spcAft>
            </a:pPr>
            <a:r>
              <a:rPr sz="1500" b="0">
                <a:solidFill>
                  <a:srgbClr val="E2E8F0"/>
                </a:solidFill>
                <a:latin typeface="Calibri"/>
              </a:rPr>
              <a:t>python main.py starts the API on port 8000. Health, query, and streaming live there.</a:t>
            </a:r>
          </a:p>
        </p:txBody>
      </p:sp>
      <p:sp>
        <p:nvSpPr>
          <p:cNvPr id="14" name="Rectangle 13"/>
          <p:cNvSpPr/>
          <p:nvPr/>
        </p:nvSpPr>
        <p:spPr>
          <a:xfrm>
            <a:off x="8183879" y="1737360"/>
            <a:ext cx="3474720" cy="420624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83879" y="1737360"/>
            <a:ext cx="73152" cy="420624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39911" y="1901952"/>
            <a:ext cx="3090672" cy="3950208"/>
          </a:xfrm>
          <a:prstGeom prst="rect">
            <a:avLst/>
          </a:prstGeom>
          <a:noFill/>
        </p:spPr>
        <p:txBody>
          <a:bodyPr wrap="square" lIns="0" rIns="0" tIns="0" bIns="0" anchor="t"/>
          <a:lstStyle/>
          <a:p>
            <a:pPr algn="l">
              <a:spcBef>
                <a:spcPts val="0"/>
              </a:spcBef>
              <a:spcAft>
                <a:spcPts val="0"/>
              </a:spcAft>
            </a:pPr>
            <a:r>
              <a:rPr sz="1800" b="1">
                <a:solidFill>
                  <a:srgbClr val="F8FAFC"/>
                </a:solidFill>
                <a:latin typeface="Calibri"/>
              </a:rPr>
              <a:t>3. Chat</a:t>
            </a:r>
          </a:p>
          <a:p>
            <a:pPr algn="l">
              <a:spcBef>
                <a:spcPts val="800"/>
              </a:spcBef>
              <a:spcAft>
                <a:spcPts val="0"/>
              </a:spcAft>
            </a:pPr>
            <a:r>
              <a:rPr sz="1500" b="0">
                <a:solidFill>
                  <a:srgbClr val="E2E8F0"/>
                </a:solidFill>
                <a:latin typeface="Calibri"/>
              </a:rPr>
              <a:t>Chainlit on port 8080 calls the API and shows the source passages.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11</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A HABIT</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Ask where the fact is supposed to come from</a:t>
            </a:r>
          </a:p>
        </p:txBody>
      </p:sp>
      <p:sp>
        <p:nvSpPr>
          <p:cNvPr id="8" name="TextBox 7"/>
          <p:cNvSpPr txBox="1"/>
          <p:nvPr/>
        </p:nvSpPr>
        <p:spPr>
          <a:xfrm>
            <a:off x="502920" y="1600200"/>
            <a:ext cx="11155680" cy="4389120"/>
          </a:xfrm>
          <a:prstGeom prst="rect">
            <a:avLst/>
          </a:prstGeom>
          <a:noFill/>
        </p:spPr>
        <p:txBody>
          <a:bodyPr wrap="square" lIns="0" rIns="0" tIns="0" bIns="0" anchor="t"/>
          <a:lstStyle/>
          <a:p>
            <a:pPr algn="l">
              <a:spcBef>
                <a:spcPts val="0"/>
              </a:spcBef>
              <a:spcAft>
                <a:spcPts val="0"/>
              </a:spcAft>
            </a:pPr>
            <a:r>
              <a:rPr sz="2000" b="0">
                <a:solidFill>
                  <a:srgbClr val="E2E8F0"/>
                </a:solidFill>
                <a:latin typeface="Calibri"/>
              </a:rPr>
              <a:t>Before trusting an answer, check three things.</a:t>
            </a:r>
          </a:p>
          <a:p>
            <a:pPr algn="l">
              <a:spcBef>
                <a:spcPts val="1600"/>
              </a:spcBef>
              <a:spcAft>
                <a:spcPts val="0"/>
              </a:spcAft>
            </a:pPr>
            <a:r>
              <a:rPr sz="2000" b="0">
                <a:solidFill>
                  <a:srgbClr val="F8FAFC"/>
                </a:solidFill>
                <a:latin typeface="Calibri"/>
              </a:rPr>
              <a:t>1.  Is the fact in a retrieved passage, or only in the model’s general knowledge?</a:t>
            </a:r>
          </a:p>
          <a:p>
            <a:pPr algn="l">
              <a:spcBef>
                <a:spcPts val="1200"/>
              </a:spcBef>
              <a:spcAft>
                <a:spcPts val="0"/>
              </a:spcAft>
            </a:pPr>
            <a:r>
              <a:rPr sz="2000" b="0">
                <a:solidFill>
                  <a:srgbClr val="F8FAFC"/>
                </a:solidFill>
                <a:latin typeface="Calibri"/>
              </a:rPr>
              <a:t>2.  Does the passage actually answer this question, or a nearby one?</a:t>
            </a:r>
          </a:p>
          <a:p>
            <a:pPr algn="l">
              <a:spcBef>
                <a:spcPts val="1200"/>
              </a:spcBef>
              <a:spcAft>
                <a:spcPts val="0"/>
              </a:spcAft>
            </a:pPr>
            <a:r>
              <a:rPr sz="2000" b="0">
                <a:solidFill>
                  <a:srgbClr val="F8FAFC"/>
                </a:solidFill>
                <a:latin typeface="Calibri"/>
              </a:rPr>
              <a:t>3.  If the documents are silent, is the app willing to say so?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2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 cy="6858000"/>
          </a:xfrm>
          <a:prstGeom prst="rect">
            <a:avLst/>
          </a:prstGeom>
          <a:solidFill>
            <a:srgbClr val="2DD4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473952"/>
            <a:ext cx="9144000" cy="256032"/>
          </a:xfrm>
          <a:prstGeom prst="rect">
            <a:avLst/>
          </a:prstGeom>
          <a:noFill/>
        </p:spPr>
        <p:txBody>
          <a:bodyPr wrap="square" lIns="0" rIns="0" tIns="0" bIns="0" anchor="t"/>
          <a:lstStyle/>
          <a:p>
            <a:pPr algn="l">
              <a:spcBef>
                <a:spcPts val="0"/>
              </a:spcBef>
              <a:spcAft>
                <a:spcPts val="0"/>
              </a:spcAft>
            </a:pPr>
            <a:r>
              <a:rPr sz="1200" b="0">
                <a:solidFill>
                  <a:srgbClr val="94A3B8"/>
                </a:solidFill>
                <a:latin typeface="Calibri"/>
              </a:rPr>
              <a:t>Local RAG  ·  beginner notes</a:t>
            </a:r>
          </a:p>
        </p:txBody>
      </p:sp>
      <p:sp>
        <p:nvSpPr>
          <p:cNvPr id="5" name="TextBox 4"/>
          <p:cNvSpPr txBox="1"/>
          <p:nvPr/>
        </p:nvSpPr>
        <p:spPr>
          <a:xfrm>
            <a:off x="10607040" y="6473952"/>
            <a:ext cx="1097280" cy="256032"/>
          </a:xfrm>
          <a:prstGeom prst="rect">
            <a:avLst/>
          </a:prstGeom>
          <a:noFill/>
        </p:spPr>
        <p:txBody>
          <a:bodyPr wrap="square" lIns="0" rIns="0" tIns="0" bIns="0" anchor="t"/>
          <a:lstStyle/>
          <a:p>
            <a:pPr algn="r">
              <a:spcBef>
                <a:spcPts val="0"/>
              </a:spcBef>
              <a:spcAft>
                <a:spcPts val="0"/>
              </a:spcAft>
            </a:pPr>
            <a:r>
              <a:rPr sz="1200" b="0">
                <a:solidFill>
                  <a:srgbClr val="94A3B8"/>
                </a:solidFill>
                <a:latin typeface="Calibri"/>
              </a:rPr>
              <a:t>12</a:t>
            </a:r>
          </a:p>
        </p:txBody>
      </p:sp>
      <p:sp>
        <p:nvSpPr>
          <p:cNvPr id="6" name="TextBox 5"/>
          <p:cNvSpPr txBox="1"/>
          <p:nvPr/>
        </p:nvSpPr>
        <p:spPr>
          <a:xfrm>
            <a:off x="502920" y="292608"/>
            <a:ext cx="10972800" cy="292608"/>
          </a:xfrm>
          <a:prstGeom prst="rect">
            <a:avLst/>
          </a:prstGeom>
          <a:noFill/>
        </p:spPr>
        <p:txBody>
          <a:bodyPr wrap="square" lIns="0" rIns="0" tIns="0" bIns="0" anchor="t"/>
          <a:lstStyle/>
          <a:p>
            <a:pPr algn="l">
              <a:spcBef>
                <a:spcPts val="0"/>
              </a:spcBef>
              <a:spcAft>
                <a:spcPts val="0"/>
              </a:spcAft>
            </a:pPr>
            <a:r>
              <a:rPr sz="1300" b="1">
                <a:solidFill>
                  <a:srgbClr val="2DD4BF"/>
                </a:solidFill>
                <a:latin typeface="Calibri"/>
              </a:rPr>
              <a:t>WHAT TO PRACTICE NEXT</a:t>
            </a:r>
          </a:p>
        </p:txBody>
      </p:sp>
      <p:sp>
        <p:nvSpPr>
          <p:cNvPr id="7" name="TextBox 6"/>
          <p:cNvSpPr txBox="1"/>
          <p:nvPr/>
        </p:nvSpPr>
        <p:spPr>
          <a:xfrm>
            <a:off x="502920" y="566928"/>
            <a:ext cx="11155680" cy="777240"/>
          </a:xfrm>
          <a:prstGeom prst="rect">
            <a:avLst/>
          </a:prstGeom>
          <a:noFill/>
        </p:spPr>
        <p:txBody>
          <a:bodyPr wrap="square" lIns="0" rIns="0" tIns="0" bIns="0" anchor="t"/>
          <a:lstStyle/>
          <a:p>
            <a:pPr algn="l">
              <a:spcBef>
                <a:spcPts val="0"/>
              </a:spcBef>
              <a:spcAft>
                <a:spcPts val="0"/>
              </a:spcAft>
            </a:pPr>
            <a:r>
              <a:rPr sz="3200" b="1">
                <a:solidFill>
                  <a:srgbClr val="F8FAFC"/>
                </a:solidFill>
                <a:latin typeface="Calibri"/>
              </a:rPr>
              <a:t>The same loop, on a new document</a:t>
            </a:r>
          </a:p>
        </p:txBody>
      </p:sp>
      <p:sp>
        <p:nvSpPr>
          <p:cNvPr id="8" name="Rectangle 7"/>
          <p:cNvSpPr/>
          <p:nvPr/>
        </p:nvSpPr>
        <p:spPr>
          <a:xfrm>
            <a:off x="502920" y="1737360"/>
            <a:ext cx="5577840" cy="19659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1993392"/>
            <a:ext cx="5074920" cy="1508760"/>
          </a:xfrm>
          <a:prstGeom prst="rect">
            <a:avLst/>
          </a:prstGeom>
          <a:noFill/>
        </p:spPr>
        <p:txBody>
          <a:bodyPr wrap="square" lIns="0" rIns="0" tIns="0" bIns="0" anchor="t"/>
          <a:lstStyle/>
          <a:p>
            <a:pPr algn="l">
              <a:spcBef>
                <a:spcPts val="0"/>
              </a:spcBef>
              <a:spcAft>
                <a:spcPts val="0"/>
              </a:spcAft>
            </a:pPr>
            <a:r>
              <a:rPr sz="2000" b="1">
                <a:solidFill>
                  <a:srgbClr val="F8FAFC"/>
                </a:solidFill>
                <a:latin typeface="Calibri"/>
              </a:rPr>
              <a:t>Add a PDF</a:t>
            </a:r>
          </a:p>
          <a:p>
            <a:pPr algn="l">
              <a:spcBef>
                <a:spcPts val="800"/>
              </a:spcBef>
              <a:spcAft>
                <a:spcPts val="0"/>
              </a:spcAft>
            </a:pPr>
            <a:r>
              <a:rPr sz="1600" b="0">
                <a:solidFill>
                  <a:srgbClr val="E2E8F0"/>
                </a:solidFill>
                <a:latin typeface="Calibri"/>
              </a:rPr>
              <a:t>Put a new file in data/documents and run ingestion again.</a:t>
            </a:r>
          </a:p>
        </p:txBody>
      </p:sp>
      <p:sp>
        <p:nvSpPr>
          <p:cNvPr id="10" name="Rectangle 9"/>
          <p:cNvSpPr/>
          <p:nvPr/>
        </p:nvSpPr>
        <p:spPr>
          <a:xfrm>
            <a:off x="6309359" y="1737360"/>
            <a:ext cx="5577840" cy="19659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1" y="1993392"/>
            <a:ext cx="5074920" cy="1508760"/>
          </a:xfrm>
          <a:prstGeom prst="rect">
            <a:avLst/>
          </a:prstGeom>
          <a:noFill/>
        </p:spPr>
        <p:txBody>
          <a:bodyPr wrap="square" lIns="0" rIns="0" tIns="0" bIns="0" anchor="t"/>
          <a:lstStyle/>
          <a:p>
            <a:pPr algn="l">
              <a:spcBef>
                <a:spcPts val="0"/>
              </a:spcBef>
              <a:spcAft>
                <a:spcPts val="0"/>
              </a:spcAft>
            </a:pPr>
            <a:r>
              <a:rPr sz="2000" b="1">
                <a:solidFill>
                  <a:srgbClr val="F8FAFC"/>
                </a:solidFill>
                <a:latin typeface="Calibri"/>
              </a:rPr>
              <a:t>Ask in more than one way</a:t>
            </a:r>
          </a:p>
          <a:p>
            <a:pPr algn="l">
              <a:spcBef>
                <a:spcPts val="800"/>
              </a:spcBef>
              <a:spcAft>
                <a:spcPts val="0"/>
              </a:spcAft>
            </a:pPr>
            <a:r>
              <a:rPr sz="1600" b="0">
                <a:solidFill>
                  <a:srgbClr val="E2E8F0"/>
                </a:solidFill>
                <a:latin typeface="Calibri"/>
              </a:rPr>
              <a:t>A definition, a how, a where, and a question the file cannot answer.</a:t>
            </a:r>
          </a:p>
        </p:txBody>
      </p:sp>
      <p:sp>
        <p:nvSpPr>
          <p:cNvPr id="12" name="Rectangle 11"/>
          <p:cNvSpPr/>
          <p:nvPr/>
        </p:nvSpPr>
        <p:spPr>
          <a:xfrm>
            <a:off x="502920" y="3886200"/>
            <a:ext cx="5577840" cy="19659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142232"/>
            <a:ext cx="5074920" cy="1508760"/>
          </a:xfrm>
          <a:prstGeom prst="rect">
            <a:avLst/>
          </a:prstGeom>
          <a:noFill/>
        </p:spPr>
        <p:txBody>
          <a:bodyPr wrap="square" lIns="0" rIns="0" tIns="0" bIns="0" anchor="t"/>
          <a:lstStyle/>
          <a:p>
            <a:pPr algn="l">
              <a:spcBef>
                <a:spcPts val="0"/>
              </a:spcBef>
              <a:spcAft>
                <a:spcPts val="0"/>
              </a:spcAft>
            </a:pPr>
            <a:r>
              <a:rPr sz="2000" b="1">
                <a:solidFill>
                  <a:srgbClr val="F8FAFC"/>
                </a:solidFill>
                <a:latin typeface="Calibri"/>
              </a:rPr>
              <a:t>Read the source</a:t>
            </a:r>
          </a:p>
          <a:p>
            <a:pPr algn="l">
              <a:spcBef>
                <a:spcPts val="800"/>
              </a:spcBef>
              <a:spcAft>
                <a:spcPts val="0"/>
              </a:spcAft>
            </a:pPr>
            <a:r>
              <a:rPr sz="1600" b="0">
                <a:solidFill>
                  <a:srgbClr val="E2E8F0"/>
                </a:solidFill>
                <a:latin typeface="Calibri"/>
              </a:rPr>
              <a:t>If the sentence sounds right, open the passage beside the chat and check it.</a:t>
            </a:r>
          </a:p>
        </p:txBody>
      </p:sp>
      <p:sp>
        <p:nvSpPr>
          <p:cNvPr id="14" name="Rectangle 13"/>
          <p:cNvSpPr/>
          <p:nvPr/>
        </p:nvSpPr>
        <p:spPr>
          <a:xfrm>
            <a:off x="6309359" y="3886200"/>
            <a:ext cx="5577840" cy="1965960"/>
          </a:xfrm>
          <a:prstGeom prst="rect">
            <a:avLst/>
          </a:prstGeom>
          <a:solidFill>
            <a:srgbClr val="1523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65391" y="4142232"/>
            <a:ext cx="5074920" cy="1508760"/>
          </a:xfrm>
          <a:prstGeom prst="rect">
            <a:avLst/>
          </a:prstGeom>
          <a:noFill/>
        </p:spPr>
        <p:txBody>
          <a:bodyPr wrap="square" lIns="0" rIns="0" tIns="0" bIns="0" anchor="t"/>
          <a:lstStyle/>
          <a:p>
            <a:pPr algn="l">
              <a:spcBef>
                <a:spcPts val="0"/>
              </a:spcBef>
              <a:spcAft>
                <a:spcPts val="0"/>
              </a:spcAft>
            </a:pPr>
            <a:r>
              <a:rPr sz="2000" b="1">
                <a:solidFill>
                  <a:srgbClr val="F8FAFC"/>
                </a:solidFill>
                <a:latin typeface="Calibri"/>
              </a:rPr>
              <a:t>Change one setting</a:t>
            </a:r>
          </a:p>
          <a:p>
            <a:pPr algn="l">
              <a:spcBef>
                <a:spcPts val="800"/>
              </a:spcBef>
              <a:spcAft>
                <a:spcPts val="0"/>
              </a:spcAft>
            </a:pPr>
            <a:r>
              <a:rPr sz="1600" b="0">
                <a:solidFill>
                  <a:srgbClr val="E2E8F0"/>
                </a:solidFill>
                <a:latin typeface="Calibri"/>
              </a:rPr>
              <a:t>Chunk size, number of passages, or the similarity cutoff. See what the answers 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